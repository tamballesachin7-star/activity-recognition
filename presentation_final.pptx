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59436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Video Activity Recognition</a:t>
            </a:r>
          </a:p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Using 3D Convolutional Neural Networks (3D-CNN) &amp; Grad-CAM Explainable AI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Spatiotemporal Action Classification with Real-Time Attention Heatmaps &amp; Live Camera Predictor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77639"/>
            <a:ext cx="237744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69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ARCHITECTURE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3D-CNN (Conv3D)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3977639"/>
            <a:ext cx="237744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069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EXPLAINABILITY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3D Grad-CAM (XAI)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77639"/>
            <a:ext cx="237744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069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FRAMEWORK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PyTorch 2.1 &amp; OpenCV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977639"/>
            <a:ext cx="237744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4069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LIVE INTERFACE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30 FPS Real-Time 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Introduction &amp;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📌 What is Video Activity Recognition?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Automated understanding of human physical actions (e.g. Walking, Running, Jumping, Sitting) from video streams.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Combines spatial understanding (posture, objects, body parts) with temporal progression (motion trajectory over time).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Crucial for real-world applications in smart surveillance, healthcare patient monitoring, sports analytics, and autonomous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Calibri"/>
              </a:defRPr>
            </a:pPr>
            <a:r>
              <a:t>🎯 Core Project Goals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✔  Spatiotemporal Modeling: Build a native 3D-CNN capable of jointly learning motion and spatial features.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✔  Explainable AI Integration: Implement 3D Grad-CAM to visualize spatiotemporal attention heatmaps.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✔  Motion-Calibrated Real-Time Inference: Build a 30 FPS live webcam engine that distinguishes static postures (Sitting) from dynamic actions.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✔  Localhost Deployment: Provide an intuitive web dashboard and native desktop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💡 Value Proposition: Bridging high-accuracy spatiotemporal deep learning with transparent visual explainability for local CPU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Statement: 2D CNN vs. 3D CNN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931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❌ Why Traditional 2D CNNs Fail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Processes video frames as independent 2D spatial images (Height x Width).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Extracts static appearance ('What is in the frame') but completely misses motion trajectory ('How actions unfold').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Confuses actions with identical static postures (e.g. Standing Still vs. Walking, Opening vs. Closing a door).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Requires heavy, separate optical flow computations that introduce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3931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A34A"/>
                </a:solidFill>
                <a:latin typeface="Calibri"/>
              </a:defRPr>
            </a:pPr>
            <a:r>
              <a:t>✅ The 3D-CNN Advantage (Our Approach)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Applies 3D convolutional kernels across both space and time (H x W x Time).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Preserves temporal continuity across sequential video frames in a unified model.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Learns combined posture features, limb movements, and directional velocity.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•  Achieves compact, high-speed inference suitable for local CPU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💡 Core Conclusion: True action semantics reside in temporal transitions across consecutive frames, making 3D convolution essential for video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Survey: Foundational Action Recognition (Papers 1–5)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651760"/>
                <a:gridCol w="4114800"/>
                <a:gridCol w="3227832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&amp;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 &amp; Limitations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Simonyan &amp; Zisserman (2014)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Two-Stream CNN (Spatial + Optical Flow)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Proved optical flow benefits; highly compute-heavy with separate flow extraction.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Ji et al. (2013)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Early 3D CNN for Human Action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First applied 3D convolutions to video; limited depth due to computational constraints.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 et al. (2015)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C3D: Convolutional 3D Network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Established 3x3x3 spatiotemporal kernels as standard; heavy parameter footprint (~60M).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Carreira &amp; Zisserman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I3D (Inflated 3D ConvNet) &amp; Kinetics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Inflated successful 2D ImageNet architectures into 3D; benchmarked modern video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 et al. (2018)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R(2+1)D Factorized Convolutions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Split 3D conv into spatial 2D conv + temporal 1D conv; improved optimization stability.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Survey: 3D Advances &amp; Attention (Papers 6–10)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651760"/>
                <a:gridCol w="4114800"/>
                <a:gridCol w="3227832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&amp;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 &amp; Limitations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Hara et al. (2018)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3D ResNet Architectures (ResNet-18/3D)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Systematically demonstrated 3D residual connections enhance deeper spatiotemporal models.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Wang et al.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Non-local Neural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Introduced self-attention mechanisms to capture long-range spatiotemporal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Feichtenhofer et al. (2019)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SlowFast Networks for Video Recognition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Dual pathways: Slow (spatial detail) and Fast (rapid temporal motion); state-of-the-art accuracy.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Bertasius et al. 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TimeSformer (Space-Time Attention)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First pure video transformer using divided space-time attention; requires substantial training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Arnab et al. (2021)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ViViT: A Video Vision 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and temporal transformer factorizations; computationally demanding for edge deployment.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Literature Survey: Explainable AI &amp; Benchmarks (Papers 11–15)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651760"/>
                <a:gridCol w="4114800"/>
                <a:gridCol w="3227832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 &amp;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 &amp; Limitations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Zhou et al. (2016)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Activation Mapping (CAM)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Pioneered visual localization using global average pooling; requires specific network architecture.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Selvaraju et al.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Grad-CAM (Gradient-Weighted CAM)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Universal visual explanation framework applicable to any CNN without architectural retraining.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Chattopadhay et al. (2018)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Grad-CAM++ (Generalized CAM)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Improved multiple-instance localization; mathematically generalized gradient weights.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Soomro et al. (2012)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UCF101 Benchmark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Standardized 101 action classes in the wild; gold-standard benchmark for action recognition.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Stergiou &amp; Poppe (2019)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Survey on Spatiotemporal Deep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Comprehensive analysis highlighting the necessity of combining explainability with 3D CNNs.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Synthesis of Literature Survey &amp;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146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1. Computational Heaviness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Existing models (C3D, I3D, ViViT) require multi-GPU clusters and cannot achieve real-time 30 FPS inference on standard laptops/CPUs.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5146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libri"/>
              </a:defRPr>
            </a:pPr>
            <a:r>
              <a:t>2. Black-Box Opacity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Most literature focuses strictly on Top-1 classification accuracy while ignoring explainability; predictions lack visual justification.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5146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3. Static Posture Misclassification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Standard models often falsely classify sitting still as running or walking due to camera sensor jitter and lack of idle calibration.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51460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240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Calibri"/>
              </a:defRPr>
            </a:pPr>
            <a:r>
              <a:t>4. Deployment Complexity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Two-stream optical flow architectures require pre-processing pipelines that prevent seamless standalone desktop/web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5912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04688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🎯 Our Contribution: A streamlined 3D-CNN architecture integrated with 3D Grad-CAM, motion energy idle calibration, and an asynchronous 30 FPS live webcam engine running locally.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Proposed System Architecture &amp;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Ingestion</a:t>
            </a:r>
          </a:p>
          <a:p>
            <a:pPr algn="ctr"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Webcam / MP4 Video (30 FPS)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45920"/>
            <a:ext cx="20116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Buffer</a:t>
            </a:r>
          </a:p>
          <a:p>
            <a:pPr algn="ctr"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16 Frames @ 112x112 RGB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20116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3D-CNN</a:t>
            </a:r>
          </a:p>
          <a:p>
            <a:pPr algn="ctr"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Spatiotemporal Convolutions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645920"/>
            <a:ext cx="20116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9" y="1920240"/>
            <a:ext cx="548640" cy="54864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Softmax</a:t>
            </a:r>
          </a:p>
          <a:p>
            <a:pPr algn="ctr"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Action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645920"/>
            <a:ext cx="20116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1920240"/>
            <a:ext cx="548640" cy="5486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5. Grad-CAM</a:t>
            </a:r>
          </a:p>
          <a:p>
            <a:pPr algn="ctr"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Attention Heatmap Overlay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Spatiotemporal Tensor Flow: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Raw Video Stream ➔ Frame Buffer [1, 3, 16, 112, 112] ➔ Conv3D Layers [1, 128, 8, 28, 28] ➔ Flatten [1, 802816] ➔ Linear [1, num_classes] ➔ Heatmap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3D CNN Architecture &amp; Layer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59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2926080"/>
                <a:gridCol w="2496312"/>
              </a:tblGrid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 &amp; Parameters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Tensor Shape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&amp; Function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Input Tensor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 RGB Frames @ 112x112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3, 16, 112, 112)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Standardized spatiotemporal video clip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Conv3D Layer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 filters, kernel (3,3,3), pad=1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64, 16, 112, 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Extracts initial spatial edges &amp; local 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MaxPool3D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kernel=(1,2,2), stride=(1,2,2)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64, 16, 56, 56)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downsampling; preserves 16 frame temporal depth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Conv3D Layer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128 filters, kernel (3,3,3), pad=1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128, 16, 56, 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Target Layer for Grad-CAM (high-level feature maps)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MaxPool3D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kernel=(2,2,2), stride=(2,2,2)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128, 8, 28, 28)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Spatiotemporal pooling; pools time down to 8 frames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FC1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Flatten(128x8x28x28) ➔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Dense representation with ReLU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FC2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Linear(256, num_classes)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num_classes)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logit output for Softmax categorization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563EB"/>
                </a:solidFill>
                <a:latin typeface="Calibri"/>
              </a:defRPr>
            </a:pPr>
            <a:r>
              <a:t>Mathematical Operation: v_ij^xyz = ReLU( b_ij + Σ_m Σ_p Σ_q Σ_r w_ijm^pqr * v_(i-1)m^(x+p)(y+q)(z+r) ) where kernel weights connect across both 2D space (x,y) and temporal time (z).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Video Preprocessing &amp; Data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Temporal Sampling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Uses OpenCV VideoCapture to read frames.</a:t>
            </a:r>
            <a:br/>
            <a:r>
              <a:t>Uniform sampling using np.linspace(0, total_frames-1, 16) extracts exactly 16 evenly spaced frames regardless of original video length or FPS.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2. Geometric Standardization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Resizes every frame to standard 112x112 resolution.</a:t>
            </a:r>
            <a:br/>
            <a:r>
              <a:t>Converts default OpenCV BGR color channels to RGB for PyTorch tensor compatibility.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Calibri"/>
              </a:defRPr>
            </a:pPr>
            <a:r>
              <a:t>3. Normalization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Scales uint8 pixel values [0, 255] to float32 [0.0, 1.0].</a:t>
            </a:r>
            <a:br/>
            <a:r>
              <a:t>Tensors reshaped to (Channels, Time, Height, Width) for batch feeding into Conv3D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Dataset Organization Standard: dataset/&lt;activity_class&gt;/&lt;video_sample&gt;.mp4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Modular folder structure compatible with UCF101 benchmark actions and custom webcam clips across Sitting/Idle, Walking, Running, and Jumping.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Explainable AI (XAI) using 3D Grad-CAM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5836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Calibri"/>
              </a:defRPr>
            </a:pPr>
            <a:r>
              <a:t>Step-by-Step 3D Grad-CAM Workflow: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1. Target Layer Selection: Hooks into conv2, the final 3D convolutional layer preserving high-level spatiotemporal semantic representations.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2. Gradient Computation: Calculates gradient of predicted class logit score (y^c) with respect to 3D feature activation maps (A^k).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3. Global Average Pooling: Pools gradients across time and space to obtain channel importance weights alpha_k^c.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4. Weighted Linear Combination &amp; ReLU: Computes L_Grad-CAM = ReLU( Σ_k alpha_k^c * A^k ), isolating only features positively supporting the predicted action.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5. Heatmap Superimposition: Normalizes activation map to [0, 1] and superimposes onto RGB video frames using OpenCV COLORMAP_JET.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867912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502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🎯 Visual Attention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Eliminates the 'Black Box' problem in neural network classification.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Confirms the network focuses on moving body limbs (legs during walking, arms during jumping) rather than background noise.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Guarantees model accountability for surveillance, safety, and healthcare deployments.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Provides visual proof for project viva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Experimental Setup &amp; Training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LOSS FUNCTION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CrossEntropyLoss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Standard multi-class categorical cross-entropy loss function.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OPTIMIZER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Adam (lr = 0.001)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Adaptive gradient estimation for fast and stable loss convergence.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BATCH SIZE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4 to 8 clips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Optimized to prevent RAM exhaustion during local CPU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TEMPORAL WINDOW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16 Frames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Optimal trade-off between motion context and frame processing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72591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CPU Optimization Strategies for ThinkPad i7 / Local Execution: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Modular Category Subsetting: Core distinct action classes trained to ensure fast iterative development on CPU.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Model Weight Checkpointing: Saves optimal model weights based on minimum validation loss (outputs/model_final.pth).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DirectShow Video Driver: OpenCV CAP_DSHOW enabled on Windows for zero-latency camera capture.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Asynchronous Decoupled Threading: Display runs at 30 FPS while 3D CNN computes in a background worker thread.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Performance Evaluation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114800"/>
                <a:gridCol w="2313432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 in Action Recognition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Threshold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(TP + TN) / 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Overall proportion of correctly classified video clips.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TP / (TP + FP)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Quantifies exactness; minimizes false action alarms (e.g. false running).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TP / (TP + FN)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Measures ability to detect all actual action occurrences.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* (P * R) / (P + 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Harmonic balance between Precision and Recall under imbalanced clip counts.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Validation &amp; Reporting Methodology: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Evaluated via scikit-learn classification_report alongside multi-class confusion matrix heatmaps to inspect action boundaries (e.g. Walking vs. Running classification thresholds).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Real-Time Live Camera Predictor &amp; Motion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30 FPS Multithreading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Native camera acquisition decoupled from neural forward pass.</a:t>
            </a:r>
            <a:br/>
            <a:r>
              <a:t>Zero video stutter or camera delay during inference.</a:t>
            </a:r>
            <a:br/>
            <a:r>
              <a:t>Real-time mirrored selfie preview with on-screen Heads-Up Display (HUD).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2. Motion Energy Analyzer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Solves idle sitting posture calibration.</a:t>
            </a:r>
            <a:br/>
            <a:r>
              <a:t>Evaluates frame-difference pixel velocity.</a:t>
            </a:r>
            <a:br/>
            <a:r>
              <a:t>Prevents subtle camera sensor noise from triggering false 'running' states when user is sitting.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071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3. Real-Time 3D Grad-CAM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Superimposes jet colormap heatmaps live.</a:t>
            </a:r>
            <a:br/>
            <a:r>
              <a:t>Confirms attention on moving limbs.</a:t>
            </a:r>
            <a:br/>
            <a:r>
              <a:t>Side-by-side or single overlay display modes toggleable with keyboard shortcuts.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Two Live Deployment Interfaces Ready: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1. Streamlit Web Dashboard at http://localhost:8501  |  2. High-Speed Native Desktop Window (python live_predictor.py)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 &amp; Future Research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  <a:latin typeface="Calibri"/>
              </a:defRPr>
            </a:pPr>
            <a:r>
              <a:t>🏆 Key Project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End-to-End 3D-CNN Pipeline: Designed and validated a Conv3D architecture capturing spatiotemporal features without external optical flow.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Transparent Explainability: Successfully integrated 3D Grad-CAM for frame-by-frame visual heatmaps.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Zero-Latency Live Predictor: Built an asynchronous multithreaded engine delivering 30 FPS webcam predictions.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Accurate Sitting/Idle Calibration: Eliminated sensor-jitter false positives during desk use.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Fully Reproducible Open-Source Code: Pushed to GitHub with complete documentation and presentation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3840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🚀 Future Research Scope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Video Transformers: Incorporate Video Swin Transformers / TimeSformer for long-range global spatiotemporal attention.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SlowFast Networks: Integrate dual-rate frame sampling (Slow spatial detail + Fast temporal motion).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Edge Hardware Deployment: Quantize model via TensorRT / ONNX for deployment on NVIDIA Jetson and Raspberry Pi devices.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Multi-Modal Sensor Fusion: Combine video feeds with environmental audio for robust multi-sensory activity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You!  |  Questions &amp; Discussion  |  Department of AI &amp; 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 &amp; Bibliography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591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Key Academic References (1–8):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[1] K. Simonyan and A. Zisserman, 'Two-Stream Convolutional Networks for Action Recognition in Videos,' in Advances in Neural Information Processing Systems (NeurIPS), vol. 27, 2014, pp. 568-576.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[2] S. Ji, W. Xu, M. Yang, and K. Yu, '3D Convolutional Neural Networks for Human Action Recognition,' IEEE Transactions on Pattern Analysis and Machine Intelligence (TPAMI), vol. 35, no. 1, pp. 221-231, 2013.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[3] D. Tran, L. Bourdev, R. Fergus, L. Torresani, and M. Paluri, 'Learning Spatiotemporal Features with 3D Convolutional Networks,' in IEEE International Conference on Computer Vision (ICCV), 2015, pp. 4489-4497.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[4] J. Carreira and A. Zisserman, 'Quo Vadis, Action Recognition? A New Model and the Kinetics Dataset,' in IEEE Conference on Computer Vision and Pattern Recognition (CVPR), 2017, pp. 6299-6308.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[5] D. Tran, H. Wang, L. Torresani, J. Ray, Y. LeCun, and M. Paluri, 'A Closer Look at Spatiotemporal Convolutions for Action Recognition,' in IEEE Conference on Computer Vision and Pattern Recognition (CVPR), 2018, pp. 6450-6459.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[6] K. Hara, H. Kataoka, and Y. Satoh, 'Can Spatiotemporal 3D CNNs Retrace the History of 2D CNNs and ImageNet?,' in IEEE Conference on Computer Vision and Pattern Recognition (CVPR), 2018, pp. 6546-6555.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[7] X. Wang, R. Girshick, A. Gupta, and K. He, 'Non-local Neural Networks,' in IEEE Conference on Computer Vision and Pattern Recognition (CVPR), 2018, pp. 7794-7803.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[8] C. Feichtenhofer, H. Fan, J. Malik, and K. He, 'SlowFast Networks for Video Recognition,' in IEEE International Conference on Computer Vision (ICCV), 2019, pp. 6202-6211.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59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 &amp; Bibliography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Dept of AI &amp;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591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Key Academic References (9–15):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[9] G. Bertasius, H. Wang, and L. Torresani, 'Is Space-Time Attention All You Need for Video Understanding?,' in International Conference on Machine Learning (ICML), 2021, pp. 813-824.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[10] A. Arnab, M. Dehghani, G. Heigold, C. Sun, M. Lučić, and C. Schmid, 'ViViT: A Video Vision Transformer,' in IEEE International Conference on Computer Vision (ICCV), 2021, pp. 6836-6846.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[11] B. Zhou, A. Khosla, A. Lapedriza, A. Oliva, and A. Torralba, 'Learning Deep Features for Discriminative Localization,' in IEEE Conference on Computer Vision and Pattern Recognition (CVPR), 2016, pp. 2921-2929.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[12] R. R. Selvaraju, M. Cogswell, A. Das, R. Vedantam, D. Parikh, and D. Batra, 'Grad-CAM: Visual Explanations from Deep Networks via Gradient-Based Localization,' in IEEE International Conference on Computer Vision (ICCV), 2017, pp. 618-626.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[13] A. Chattopadhay, A. Sarkar, P. Howlader, and V. N. Balasubramanian, 'Grad-CAM++: Generalized Gradient-Based Visual Explanations for Deep Convolutional Networks,' in IEEE Winter Conference on Applications of Computer Vision (WACV), 2018, pp. 839-847.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[14] K. Soomro, A. R. Zamir, and M. Shah, 'UCF101: A Dataset of 101 Human Actions Classes From Videos in The Wild,' Center for Research in Computer Vision (CRCV), Tech. Rep. CRCV-TR-12-01, 2012.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[15] A. Stergiou and R. Poppe, 'Analyzing Human-Human Interactions: A Survey on Spatiotemporal Deep Learning Methods,' Computer Vision and Image Understanding (CVIU), vol. 188, p. 102799,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