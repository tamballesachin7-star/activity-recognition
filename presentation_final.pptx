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7160" y="73152"/>
            <a:ext cx="1097280" cy="1097280"/>
          </a:xfrm>
          <a:prstGeom prst="ellipse">
            <a:avLst/>
          </a:prstGeom>
          <a:solidFill>
            <a:srgbClr val="C8CDD7"/>
          </a:solidFill>
          <a:ln>
            <a:solidFill>
              <a:srgbClr val="8C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F172A"/>
                </a:solidFill>
                <a:latin typeface="Calibri"/>
              </a:defRPr>
            </a:pPr>
            <a:r>
              <a:t>GNDEC</a:t>
            </a:r>
            <a:br/>
            <a:r>
              <a:t>LOGO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27080" y="91440"/>
            <a:ext cx="1097280" cy="1097280"/>
          </a:xfrm>
          <a:prstGeom prst="roundRect">
            <a:avLst/>
          </a:prstGeom>
          <a:solidFill>
            <a:srgbClr val="DAA520"/>
          </a:solidFill>
          <a:ln>
            <a:solidFill>
              <a:srgbClr val="B482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NAAC</a:t>
            </a:r>
            <a:br/>
            <a:r>
              <a:t>A+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73152"/>
            <a:ext cx="94183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21792"/>
            <a:ext cx="9418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F172A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98448"/>
            <a:ext cx="11274552" cy="22860"/>
          </a:xfrm>
          <a:prstGeom prst="rect">
            <a:avLst/>
          </a:prstGeom>
          <a:solidFill>
            <a:srgbClr val="B4C3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444752"/>
            <a:ext cx="853135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  <a:latin typeface="Calibri"/>
              </a:defRPr>
            </a:pPr>
            <a:r>
              <a:t>Major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2024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Spatiotemporal Explainable Human Activity Recognition using</a:t>
            </a:r>
          </a:p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3D Convolutional Neural Networks and Grad-CAM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337560"/>
            <a:ext cx="11274552" cy="22860"/>
          </a:xfrm>
          <a:prstGeom prst="rect">
            <a:avLst/>
          </a:prstGeom>
          <a:solidFill>
            <a:srgbClr val="B4C3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  <a:latin typeface="Calibri"/>
              </a:defRPr>
            </a:pPr>
            <a:r>
              <a:t>Project Guide</a:t>
            </a:r>
          </a:p>
          <a:p>
            <a:pPr>
              <a:defRPr sz="800"/>
            </a:pPr>
          </a:p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Prof. Rony Preetam Prakash</a:t>
            </a:r>
          </a:p>
          <a:p>
            <a:pPr>
              <a:defRPr sz="800"/>
            </a:pPr>
          </a:p>
          <a:p>
            <a:pPr>
              <a:defRPr sz="1400" b="0">
                <a:solidFill>
                  <a:srgbClr val="1E293B"/>
                </a:solidFill>
                <a:latin typeface="Calibri"/>
              </a:defRPr>
            </a:pPr>
            <a:r>
              <a:t>AIML GNDEC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52044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1E293B"/>
                </a:solidFill>
                <a:latin typeface="Calibri"/>
              </a:defRPr>
            </a:pPr>
            <a:r>
              <a:t>Team Members</a:t>
            </a:r>
          </a:p>
          <a:p>
            <a:pPr algn="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Nitin Pandre</a:t>
            </a:r>
          </a:p>
          <a:p>
            <a:pPr algn="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Sachin Tamballe</a:t>
            </a:r>
          </a:p>
          <a:p>
            <a:pPr algn="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Vinayak Budnoor</a:t>
            </a:r>
          </a:p>
          <a:p>
            <a:pPr algn="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Prashanth Levadi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Introduction &amp;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63040"/>
            <a:ext cx="51206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Calibri"/>
              </a:defRPr>
            </a:pPr>
            <a:r>
              <a:t>📌 What is Video Activity Recognition?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Automated understanding of human physical actions (e.g. Walking, Running, Jumping, Sitting) from video streams.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Combines spatial understanding (posture, objects, body parts) with temporal progression (motion trajectory over time).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Crucial for real-world applications in smart surveillance, healthcare patient monitoring, sports analytics, and autonomous systems.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002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Calibri"/>
              </a:defRPr>
            </a:pPr>
            <a:r>
              <a:t>🎯 Core Project Goals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✔  Spatiotemporal Modeling: Build a native 3D-CNN capable of jointly learning motion and spatial features.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✔  Explainable AI Integration: Implement 3D Grad-CAM to visualize spatiotemporal attention heatmaps.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✔  Motion-Calibrated Real-Time Inference: Build a 30 FPS live webcam engine that distinguishes static postures (Sitting) from dynamic actions.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✔  Localhost Deployment: Provide an intuitive web dashboard and native desktop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32120"/>
            <a:ext cx="10725912" cy="685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96128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💡 Value Proposition: Bridging high-accuracy spatiotemporal deep learning with transparent visual explainability for local CPU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Problem Statement: 2D CNN vs. 3D CNN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63040"/>
            <a:ext cx="5120640" cy="39319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C2626"/>
                </a:solidFill>
                <a:latin typeface="Calibri"/>
              </a:defRPr>
            </a:pPr>
            <a:r>
              <a:t>❌ Why Traditional 2D CNNs Fail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Processes video frames as independent 2D spatial images (Height x Width).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Extracts static appearance ('What is in the frame') but completely misses motion trajectory ('How actions unfold').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Confuses actions with identical static postures (e.g. Standing Still vs. Walking, Opening vs. Closing a door).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Requires heavy, separate optical flow computations that introduce latency.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39319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002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6A34A"/>
                </a:solidFill>
                <a:latin typeface="Calibri"/>
              </a:defRPr>
            </a:pPr>
            <a:r>
              <a:t>✅ The 3D-CNN Advantage (Our Approach)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Applies 3D convolutional kernels across both space and time (H x W x Time).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Preserves temporal continuity across sequential video frames in a unified model.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Learns combined posture features, limb movements, and directional velocity.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 Achieves compact, high-speed inference suitable for local CPU execution.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32120"/>
            <a:ext cx="10725912" cy="685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96128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💡 Core Conclusion: True action semantics reside in temporal transitions across consecutive frames, making 3D convolution essential for video classification.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Literature Survey: Foundational Action Recognition (Papers 1–5)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417320"/>
          <a:ext cx="1072591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651760"/>
                <a:gridCol w="4114800"/>
                <a:gridCol w="3227832"/>
              </a:tblGrid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Author &amp; Year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Methodology &amp; Architecture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Findings &amp; Limitations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Simonyan &amp; Zisserman (2014)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Two-Stream CNN (Spatial + Optical Flow)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Proved optical flow benefits; highly compute-heavy with separate flow extraction.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Ji et al. (2013)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Early 3D CNN for Human Action Recognition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First applied 3D convolutions to video; limited depth due to computational constraints.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Tran et al. (2015)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C3D: Convolutional 3D Network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Established 3x3x3 spatiotemporal kernels as standard; heavy parameter footprint (~60M).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Carreira &amp; Zisserman (2017)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I3D (Inflated 3D ConvNet) &amp; Kinetics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Inflated successful 2D ImageNet architectures into 3D; benchmarked modern video models.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Tran et al. (2018)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R(2+1)D Factorized Convolutions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Split 3D conv into spatial 2D conv + temporal 1D conv; improved optimization stability.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Literature Survey: 3D Advances &amp; Attention (Papers 6–10)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417320"/>
          <a:ext cx="1072591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651760"/>
                <a:gridCol w="4114800"/>
                <a:gridCol w="3227832"/>
              </a:tblGrid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Author &amp; Year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Methodology &amp; Architecture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Findings &amp; Limitations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Hara et al. (2018)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3D ResNet Architectures (ResNet-18/3D)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Systematically demonstrated 3D residual connections enhance deeper spatiotemporal models.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Wang et al. (2018)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Non-local Neural Networks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Introduced self-attention mechanisms to capture long-range spatiotemporal dependencies.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Feichtenhofer et al. (2019)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SlowFast Networks for Video Recognition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Dual pathways: Slow (spatial detail) and Fast (rapid temporal motion); state-of-the-art accuracy.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Bertasius et al. (2021)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TimeSformer (Space-Time Attention)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First pure video transformer using divided space-time attention; requires substantial training data.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Arnab et al. (2021)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ViViT: A Video Vision Transformer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Spatial and temporal transformer factorizations; computationally demanding for edge deployment.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Literature Survey: Explainable AI &amp; Benchmarks (Papers 11–15)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417320"/>
          <a:ext cx="1072591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651760"/>
                <a:gridCol w="4114800"/>
                <a:gridCol w="3227832"/>
              </a:tblGrid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Author &amp; Year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Methodology &amp; Architecture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Findings &amp; Limitations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Zhou et al. (2016)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Class Activation Mapping (CAM)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Pioneered visual localization using global average pooling; requires specific network architecture.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Selvaraju et al. (2017)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Grad-CAM (Gradient-Weighted CAM)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Universal visual explanation framework applicable to any CNN without architectural retraining.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Chattopadhay et al. (2018)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Grad-CAM++ (Generalized CAM)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Improved multiple-instance localization; mathematically generalized gradient weights.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Soomro et al. (2012)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UCF101 Benchmark 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Standardized 101 action classes in the wild; gold-standard benchmark for action recognition.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Stergiou &amp; Poppe (2019)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Survey on Spatiotemporal Deep Learning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Comprehensive analysis highlighting the necessity of combining explainability with 3D CNNs.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Synthesis of Literature Survey &amp; Research Gaps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2514600" cy="3657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691640"/>
            <a:ext cx="2240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  <a:latin typeface="Calibri"/>
              </a:defRPr>
            </a:pPr>
            <a:r>
              <a:t>1. Computational Heaviness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Existing models (C3D, I3D, ViViT) require multi-GPU clusters and cannot achieve real-time 30 FPS inference on standard laptops/CPUs.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554480"/>
            <a:ext cx="2514600" cy="3657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691640"/>
            <a:ext cx="2240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  <a:latin typeface="Calibri"/>
              </a:defRPr>
            </a:pPr>
            <a:r>
              <a:t>2. Black-Box Opacity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Most literature focuses strictly on Top-1 classification accuracy while ignoring explainability; predictions lack visual justification.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2514600" cy="3657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691640"/>
            <a:ext cx="2240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Calibri"/>
              </a:defRPr>
            </a:pPr>
            <a:r>
              <a:t>3. Static Posture Misclassification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Standard models often falsely classify sitting still as running or walking due to camera sensor jitter and lack of idle calibration.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554480"/>
            <a:ext cx="2514600" cy="3657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691640"/>
            <a:ext cx="2240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6A34A"/>
                </a:solidFill>
                <a:latin typeface="Calibri"/>
              </a:defRPr>
            </a:pPr>
            <a:r>
              <a:t>4. Deployment Complexity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Two-stream optical flow architectures require pre-processing pipelines that prevent seamless standalone desktop/web deployment.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40680"/>
            <a:ext cx="10725912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504688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🎯 Our Contribution: A streamlined 3D-CNN architecture integrated with 3D Grad-CAM, motion energy idle calibration, and an asynchronous 30 FPS live webcam engine running locally.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Proposed System Architecture &amp; End-to-End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645920"/>
            <a:ext cx="20116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63040" y="1920240"/>
            <a:ext cx="548640" cy="54864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5176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1. Ingestion</a:t>
            </a:r>
          </a:p>
          <a:p>
            <a:pPr algn="ctr">
              <a:spcBef>
                <a:spcPts val="8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Webcam / MP4 Video (30 FPS)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1645920"/>
            <a:ext cx="20116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57600" y="1920240"/>
            <a:ext cx="548640" cy="54864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65176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2. Buffer</a:t>
            </a:r>
          </a:p>
          <a:p>
            <a:pPr algn="ctr">
              <a:spcBef>
                <a:spcPts val="8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16 Frames @ 112x112 RGB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645920"/>
            <a:ext cx="20116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60" y="1920240"/>
            <a:ext cx="548640" cy="548640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65176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3. 3D-CNN</a:t>
            </a:r>
          </a:p>
          <a:p>
            <a:pPr algn="ctr">
              <a:spcBef>
                <a:spcPts val="8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Spatiotemporal Convolutions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199" y="1645920"/>
            <a:ext cx="20116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19" y="1920240"/>
            <a:ext cx="548640" cy="548640"/>
          </a:xfrm>
          <a:prstGeom prst="ellipse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65176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4. Softmax</a:t>
            </a:r>
          </a:p>
          <a:p>
            <a:pPr algn="ctr">
              <a:spcBef>
                <a:spcPts val="8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Action Classification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1645920"/>
            <a:ext cx="20116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1920240"/>
            <a:ext cx="548640" cy="548640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65176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5. Grad-CAM</a:t>
            </a:r>
          </a:p>
          <a:p>
            <a:pPr algn="ctr">
              <a:spcBef>
                <a:spcPts val="8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Attention Heatmap Overlay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03520"/>
            <a:ext cx="10725912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4924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563EB"/>
                </a:solidFill>
                <a:latin typeface="Calibri"/>
              </a:defRPr>
            </a:pPr>
            <a:r>
              <a:t>Spatiotemporal Tensor Flow:</a:t>
            </a:r>
          </a:p>
          <a:p>
            <a:pPr>
              <a:defRPr sz="1150">
                <a:solidFill>
                  <a:srgbClr val="1E293B"/>
                </a:solidFill>
                <a:latin typeface="Calibri"/>
              </a:defRPr>
            </a:pPr>
            <a:r>
              <a:t>Raw Video Stream ➔ Frame Buffer [1, 3, 16, 112, 112] ➔ Conv3D Layers [1, 128, 8, 28, 28] ➔ Flatten [1, 802816] ➔ Linear [1, num_classes] ➔ Heatmap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3D CNN Architecture &amp; Layer Specifications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463040"/>
          <a:ext cx="10725912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2926080"/>
                <a:gridCol w="2496312"/>
              </a:tblGrid>
              <a:tr h="49149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 Name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 &amp; Parameters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Tensor Shape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 &amp; Function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Input Tensor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16 RGB Frames @ 112x112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(Batch, 3, 16, 112, 112)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Standardized spatiotemporal video clip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Conv3D Layer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64 filters, kernel (3,3,3), pad=1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(Batch, 64, 16, 112, 112)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Extracts initial spatial edges &amp; local motion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MaxPool3D 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kernel=(1,2,2), stride=(1,2,2)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(Batch, 64, 16, 56, 56)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Spatial downsampling; preserves 16 frame temporal depth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Conv3D Layer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128 filters, kernel (3,3,3), pad=1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(Batch, 128, 16, 56, 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Target Layer for Grad-CAM (high-level feature maps)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MaxPool3D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kernel=(2,2,2), stride=(2,2,2)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(Batch, 128, 8, 28, 28)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Spatiotemporal pooling; pools time down to 8 frames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Linear FC1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Flatten(128x8x28x28) ➔ 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(Batch,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Dense representation with ReLU activation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Linear FC2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Linear(256, num_classes)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(Batch, num_classes)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Class logit output for Softmax categorization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20" y="5532120"/>
            <a:ext cx="10725912" cy="685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596128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563EB"/>
                </a:solidFill>
                <a:latin typeface="Calibri"/>
              </a:defRPr>
            </a:pPr>
            <a:r>
              <a:t>Mathematical Operation: v_ij^xyz = ReLU( b_ij + Σ_m Σ_p Σ_q Σ_r w_ijm^pqr * v_(i-1)m^(x+p)(y+q)(z+r) ) where kernel weights connect across both 2D space (x,y) and temporal time (z).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Video Preprocessing &amp; Data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645920"/>
            <a:ext cx="3410712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1. Temporal Sampling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Uses OpenCV VideoCapture to read frames.</a:t>
            </a:r>
            <a:br/>
            <a:r>
              <a:t>Uniform sampling using np.linspace(0, total_frames-1, 16) extracts exactly 16 evenly spaced frames regardless of original video length or FPS.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645920"/>
            <a:ext cx="3410712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A34A"/>
                </a:solidFill>
                <a:latin typeface="Calibri"/>
              </a:defRPr>
            </a:pPr>
            <a:r>
              <a:t>2. Geometric Standardization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Resizes every frame to standard 112x112 resolution.</a:t>
            </a:r>
            <a:br/>
            <a:r>
              <a:t>Converts default OpenCV BGR color channels to RGB for PyTorch tensor compatibility.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45920"/>
            <a:ext cx="3410712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  <a:latin typeface="Calibri"/>
              </a:defRPr>
            </a:pPr>
            <a:r>
              <a:t>3. Normalization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Scales uint8 pixel values [0, 255] to float32 [0.0, 1.0].</a:t>
            </a:r>
            <a:br/>
            <a:r>
              <a:t>Tensors reshaped to (Channels, Time, Height, Width) for batch feeding into Conv3D layers.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03520"/>
            <a:ext cx="10725912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4924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563EB"/>
                </a:solidFill>
                <a:latin typeface="Calibri"/>
              </a:defRPr>
            </a:pPr>
            <a:r>
              <a:t>Dataset Organization Standard: dataset/&lt;activity_class&gt;/&lt;video_sample&gt;.mp4</a:t>
            </a:r>
          </a:p>
          <a:p>
            <a:pPr>
              <a:defRPr sz="1150">
                <a:solidFill>
                  <a:srgbClr val="1E293B"/>
                </a:solidFill>
                <a:latin typeface="Calibri"/>
              </a:defRPr>
            </a:pPr>
            <a:r>
              <a:t>Modular folder structure compatible with UCF101 benchmark actions and custom webcam clips across Sitting/Idle, Walking, Running, and Jumping.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Explainable AI (XAI) using 3D Grad-CAM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6583680" cy="4480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9164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Calibri"/>
              </a:defRPr>
            </a:pPr>
            <a:r>
              <a:t>Step-by-Step 3D Grad-CAM Workflow: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 1. Target Layer Selection: Hooks into conv2, the final 3D convolutional layer preserving high-level spatiotemporal semantic representations.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 2. Gradient Computation: Calculates gradient of predicted class logit score (y^c) with respect to 3D feature activation maps (A^k).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 3. Global Average Pooling: Pools gradients across time and space to obtain channel importance weights alpha_k^c.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 4. Weighted Linear Combination &amp; ReLU: Computes L_Grad-CAM = ReLU( Σ_k alpha_k^c * A^k ), isolating only features positively supporting the predicted action.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 5. Heatmap Superimposition: Normalizes activation map to [0, 1] and superimposes onto RGB video frames using OpenCV COLORMAP_JET.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1554480"/>
            <a:ext cx="3867912" cy="4480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737360"/>
            <a:ext cx="3502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🎯 Visual Attention Verification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✔  Eliminates the 'Black Box' problem in neural network classification.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✔  Confirms the network focuses on moving body limbs (legs during walking, arms during jumping) rather than background noise.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✔  Guarantees model accountability for surveillance, safety, and healthcare deployments.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✔  Provides visual proof for project viva evaluation.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Experimental Setup &amp; Training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645920"/>
            <a:ext cx="251460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8308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LOSS FUNCTION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Calibri"/>
              </a:defRPr>
            </a:pPr>
            <a:r>
              <a:t>CrossEntropyLoss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Standard multi-class categorical cross-entropy loss function.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645920"/>
            <a:ext cx="251460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78308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OPTIMIZER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Calibri"/>
              </a:defRPr>
            </a:pPr>
            <a:r>
              <a:t>Adam (lr = 0.001)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Adaptive gradient estimation for fast and stable loss convergence.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251460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BATCH SIZE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Calibri"/>
              </a:defRPr>
            </a:pPr>
            <a:r>
              <a:t>4 to 8 clips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Optimized to prevent RAM exhaustion during local CPU execution.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645920"/>
            <a:ext cx="251460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78308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alibri"/>
              </a:defRPr>
            </a:pPr>
            <a:r>
              <a:t>TEMPORAL WINDOW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Calibri"/>
              </a:defRPr>
            </a:pPr>
            <a:r>
              <a:t>16 Frames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Optimal trade-off between motion context and frame processing latency.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06240"/>
            <a:ext cx="1072591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3434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CPU Optimization Strategies for ThinkPad i7 / Local Execution: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 Modular Category Subsetting: Core distinct action classes trained to ensure fast iterative development on CPU.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 Model Weight Checkpointing: Saves optimal model weights based on minimum validation loss (outputs/model_final.pth).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 DirectShow Video Driver: OpenCV CAP_DSHOW enabled on Windows for zero-latency camera capture.</a:t>
            </a:r>
          </a:p>
          <a:p>
            <a:pPr>
              <a:spcAft>
                <a:spcPts val="2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 Asynchronous Decoupled Threading: Display runs at 30 FPS while 3D CNN computes in a background worker thread.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Performance Evaluation 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554480"/>
          <a:ext cx="1072591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114800"/>
                <a:gridCol w="2313432"/>
              </a:tblGrid>
              <a:tr h="65836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Mathematical Formula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Significance in Action Recognition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Threshold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(TP + TN) / Total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Overall proportion of correctly classified video clips.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&gt; 90%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TP / (TP + FP)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Quantifies exactness; minimizes false action alarms (e.g. false running).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&gt; 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TP / (TP + FN)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Measures ability to detect all actual action occurrences.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&gt; 89%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 * (P * R) / (P + 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Harmonic balance between Precision and Recall under imbalanced clip counts.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&gt; 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20" y="5120640"/>
            <a:ext cx="10725912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Validation &amp; Reporting Methodology:</a:t>
            </a:r>
          </a:p>
          <a:p>
            <a:pPr>
              <a:defRPr sz="1150">
                <a:solidFill>
                  <a:srgbClr val="1E293B"/>
                </a:solidFill>
                <a:latin typeface="Calibri"/>
              </a:defRPr>
            </a:pPr>
            <a:r>
              <a:t>Evaluated via scikit-learn classification_report alongside multi-class confusion matrix heatmaps to inspect action boundaries (e.g. Walking vs. Running classification thresholds).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Real-Time Live Camera Predictor &amp; Motion Calibration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645920"/>
            <a:ext cx="3410712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Calibri"/>
              </a:defRPr>
            </a:pPr>
            <a:r>
              <a:t>1. 30 FPS Multithreading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Native camera acquisition decoupled from neural forward pass.</a:t>
            </a:r>
            <a:br/>
            <a:r>
              <a:t>Zero video stutter or camera delay during inference.</a:t>
            </a:r>
            <a:br/>
            <a:r>
              <a:t>Real-time mirrored selfie preview with on-screen Heads-Up Display (HUD).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645920"/>
            <a:ext cx="3410712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A34A"/>
                </a:solidFill>
                <a:latin typeface="Calibri"/>
              </a:defRPr>
            </a:pPr>
            <a:r>
              <a:t>2. Motion Energy Analyzer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Solves idle sitting posture calibration.</a:t>
            </a:r>
            <a:br/>
            <a:r>
              <a:t>Evaluates frame-difference pixel velocity.</a:t>
            </a:r>
            <a:br/>
            <a:r>
              <a:t>Prevents subtle camera sensor noise from triggering false 'running' states when user is sitting.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45920"/>
            <a:ext cx="3410712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Calibri"/>
              </a:defRPr>
            </a:pPr>
            <a:r>
              <a:t>3. Real-Time 3D Grad-CAM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Superimposes jet colormap heatmaps live.</a:t>
            </a:r>
            <a:br/>
            <a:r>
              <a:t>Confirms attention on moving limbs.</a:t>
            </a:r>
            <a:br/>
            <a:r>
              <a:t>Side-by-side or single overlay display modes toggleable with keyboard shortcuts.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03520"/>
            <a:ext cx="10725912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4924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563EB"/>
                </a:solidFill>
                <a:latin typeface="Calibri"/>
              </a:defRPr>
            </a:pPr>
            <a:r>
              <a:t>Two Live Deployment Interfaces Ready:</a:t>
            </a:r>
          </a:p>
          <a:p>
            <a:pPr>
              <a:defRPr sz="1150">
                <a:solidFill>
                  <a:srgbClr val="1E293B"/>
                </a:solidFill>
                <a:latin typeface="Calibri"/>
              </a:defRPr>
            </a:pPr>
            <a:r>
              <a:t>1. Streamlit Web Dashboard at http://localhost:8501  |  2. High-Speed Native Desktop Window (python live_predictor.py)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Conclusion &amp; Future Research Scope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120640" cy="38404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916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6A34A"/>
                </a:solidFill>
                <a:latin typeface="Calibri"/>
              </a:defRPr>
            </a:pPr>
            <a:r>
              <a:t>🏆 Key Project Accomplishments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✔  End-to-End 3D-CNN Pipeline: Designed and validated a Conv3D architecture capturing spatiotemporal features without external optical flow.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✔  Transparent Explainability: Successfully integrated 3D Grad-CAM for frame-by-frame visual heatmaps.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✔  Zero-Latency Live Predictor: Built an asynchronous multithreaded engine delivering 30 FPS webcam predictions.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✔  Accurate Sitting/Idle Calibration: Eliminated sensor-jitter false positives during desk use.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✔  Fully Reproducible Open-Source Code: Pushed to GitHub with complete documentation and presentation assets.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554480"/>
            <a:ext cx="5120640" cy="38404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916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🚀 Future Research Scope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➔  Video Transformers: Incorporate Video Swin Transformers / TimeSformer for long-range global spatiotemporal attention.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➔  SlowFast Networks: Integrate dual-rate frame sampling (Slow spatial detail + Fast temporal motion).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➔  Edge Hardware Deployment: Quantize model via TensorRT / ONNX for deployment on NVIDIA Jetson and Raspberry Pi devices.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➔  Multi-Modal Sensor Fusion: Combine video feeds with environmental audio for robust multi-sensory activity classification.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32120"/>
            <a:ext cx="10725912" cy="685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96128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Thank You!  |  Questions &amp; Discussion  |  Department of AI &amp; 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References &amp; Bibliography (Part 1)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63040"/>
            <a:ext cx="10725912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Key Academic References (1–8):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[1] K. Simonyan and A. Zisserman, 'Two-Stream Convolutional Networks for Action Recognition in Videos,' in Advances in Neural Information Processing Systems (NeurIPS), vol. 27, 2014, pp. 568-576.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[2] S. Ji, W. Xu, M. Yang, and K. Yu, '3D Convolutional Neural Networks for Human Action Recognition,' IEEE Transactions on Pattern Analysis and Machine Intelligence (TPAMI), vol. 35, no. 1, pp. 221-231, 2013.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[3] D. Tran, L. Bourdev, R. Fergus, L. Torresani, and M. Paluri, 'Learning Spatiotemporal Features with 3D Convolutional Networks,' in IEEE International Conference on Computer Vision (ICCV), 2015, pp. 4489-4497.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[4] J. Carreira and A. Zisserman, 'Quo Vadis, Action Recognition? A New Model and the Kinetics Dataset,' in IEEE Conference on Computer Vision and Pattern Recognition (CVPR), 2017, pp. 6299-6308.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[5] D. Tran, H. Wang, L. Torresani, J. Ray, Y. LeCun, and M. Paluri, 'A Closer Look at Spatiotemporal Convolutions for Action Recognition,' in IEEE Conference on Computer Vision and Pattern Recognition (CVPR), 2018, pp. 6450-6459.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[6] K. Hara, H. Kataoka, and Y. Satoh, 'Can Spatiotemporal 3D CNNs Retrace the History of 2D CNNs and ImageNet?,' in IEEE Conference on Computer Vision and Pattern Recognition (CVPR), 2018, pp. 6546-6555.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[7] X. Wang, R. Girshick, A. Gupta, and K. He, 'Non-local Neural Networks,' in IEEE Conference on Computer Vision and Pattern Recognition (CVPR), 2018, pp. 7794-7803.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[8] C. Feichtenhofer, H. Fan, J. Malik, and K. He, 'SlowFast Networks for Video Recognition,' in IEEE International Conference on Computer Vision (ICCV), 2019, pp. 6202-6211.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145743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GURU NANAK DEV ENGINEERING COLLEGE, BIDAR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5743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DEPARTMENT OF AI &amp;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1274552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52728"/>
            <a:ext cx="11091672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References &amp; Bibliography (Part 2)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114574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Calibri"/>
              </a:defRPr>
            </a:pPr>
            <a:r>
              <a:t>Video Activity Recognition with 3D CNN &amp; Grad-CAM  |  AIML GNDEC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63040"/>
            <a:ext cx="10725912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Key Academic References (9–15):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[9] G. Bertasius, H. Wang, and L. Torresani, 'Is Space-Time Attention All You Need for Video Understanding?,' in International Conference on Machine Learning (ICML), 2021, pp. 813-824.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[10] A. Arnab, M. Dehghani, G. Heigold, C. Sun, M. Lučić, and C. Schmid, 'ViViT: A Video Vision Transformer,' in IEEE International Conference on Computer Vision (ICCV), 2021, pp. 6836-6846.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[11] B. Zhou, A. Khosla, A. Lapedriza, A. Oliva, and A. Torralba, 'Learning Deep Features for Discriminative Localization,' in IEEE Conference on Computer Vision and Pattern Recognition (CVPR), 2016, pp. 2921-2929.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[12] R. R. Selvaraju, M. Cogswell, A. Das, R. Vedantam, D. Parikh, and D. Batra, 'Grad-CAM: Visual Explanations from Deep Networks via Gradient-Based Localization,' in IEEE International Conference on Computer Vision (ICCV), 2017, pp. 618-626.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[13] A. Chattopadhay, A. Sarkar, P. Howlader, and V. N. Balasubramanian, 'Grad-CAM++: Generalized Gradient-Based Visual Explanations for Deep Convolutional Networks,' in IEEE Winter Conference on Applications of Computer Vision (WACV), 2018, pp. 839-847.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[14] K. Soomro, A. R. Zamir, and M. Shah, 'UCF101: A Dataset of 101 Human Actions Classes From Videos in The Wild,' Center for Research in Computer Vision (CRCV), Tech. Rep. CRCV-TR-12-01, 2012.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[15] A. Stergiou and R. Poppe, 'Analyzing Human-Human Interactions: A Survey on Spatiotemporal Deep Learning Methods,' Computer Vision and Image Understanding (CVIU), vol. 188, p. 102799, 2019.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