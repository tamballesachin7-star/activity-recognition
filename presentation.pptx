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594360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"/>
              </a:defRPr>
            </a:pPr>
            <a:r>
              <a:t>Video Activity Recognition</a:t>
            </a:r>
          </a:p>
          <a:p>
            <a:pPr>
              <a:defRPr sz="2000" b="1">
                <a:solidFill>
                  <a:srgbClr val="2563EB"/>
                </a:solidFill>
                <a:latin typeface="Calibri"/>
              </a:defRPr>
            </a:pPr>
            <a:r>
              <a:t>Using 3D Convolutional Neural Networks (3D-CNN) &amp; Explainable AI (Grad-CAM)</a:t>
            </a:r>
          </a:p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Real-time spatiotemporal human action classification with visual attention heatmaps.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2377440" cy="14630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023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CORE ARCHITECTURE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3D-CNN (Conv3D + MaxPool3D)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3931920"/>
            <a:ext cx="2377440" cy="14630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4023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EXPLAINABILITY (XAI)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3D Grad-CAM Attention Heatmaps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2377440" cy="14630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023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COMPUTER VISION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PyTorch 2.1 &amp; OpenCV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931920"/>
            <a:ext cx="2377440" cy="14630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40233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LIVE EXECUTION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Real-Time 30 FPS Camera Stream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Problem Statement &amp; Motivation: Why 3D CNN?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AIML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38404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Calibri"/>
              </a:defRPr>
            </a:pPr>
            <a:r>
              <a:t>❌ Limitations of Traditional 2D CNNs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 Processes isolated spatial images (Height x Width) frame-by-frame.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 Captures posture / visual appearance ('What is in the frame') but misses motion trajectories ('How actions unfold').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 Fails on sequential actions with identical static body poses (e.g., Sitting Down vs. Standing Up, Opening vs. Closing a door).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 Requires complex two-stream optical flow architectures that are slow and computationally expensive.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38404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  <a:latin typeface="Calibri"/>
              </a:defRPr>
            </a:pPr>
            <a:r>
              <a:t>✅ The 3D-CNN Advantage (AIML Solution)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 Applies 3D convolutional kernels across both space and time (Height x Width x Time).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 Preserves temporal continuity across sequential video frames in a single unified model.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 Simultaneously captures body posture, limb movements, and directional velocity.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 Lightweight &amp; deployable on edge devices without requiring pre-computed optical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5912" cy="6858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💡 Key Principle: Video actions cannot be understood by single frames alone. Motion dynamics across adjacent frames constitute the semantic identity of human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End-to-End System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AIML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1168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Video Capture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Raw Video Stream (MP4/AVI) or Live Webcam Feed (30 FPS).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645920"/>
            <a:ext cx="201168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1920240"/>
            <a:ext cx="548640" cy="5486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517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Preprocessing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16-frame temporal buffer sampled uniformly, resized to 112x112 RGB.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645920"/>
            <a:ext cx="201168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0" y="1920240"/>
            <a:ext cx="548640" cy="548640"/>
          </a:xfrm>
          <a:prstGeom prst="ellipse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6517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3. 3D-CNN Core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Spatiotemporal convolutions extract movement &amp; posture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645920"/>
            <a:ext cx="201168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9" y="1920240"/>
            <a:ext cx="548640" cy="54864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26517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4. Classifier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Softmax probability distribution across human activity categories.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645920"/>
            <a:ext cx="2011680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0" y="1920240"/>
            <a:ext cx="548640" cy="54864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6517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5. 3D Grad-CAM</a:t>
            </a:r>
          </a:p>
          <a:p>
            <a:pPr algn="ctr">
              <a:spcBef>
                <a:spcPts val="8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Gradient-weighted class activation map overlaid as visual heatmap.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563EB"/>
                </a:solidFill>
                <a:latin typeface="Calibri"/>
              </a:defRPr>
            </a:pPr>
            <a:r>
              <a:t>Tensor Transformation Pipeline: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Video Input (T x H x W x C)  ➔  Tensor Batch [B, 3, 16, 112, 112]  ➔  Conv3D Layers [B, 128, 8, 28, 28]  ➔  Logits [B, num_classes]  ➔  Grad-CAM [B, 16, 112, 112]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3D CNN Architecture (Simple3DCNN Specifications)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AIML Project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1072591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2926080"/>
                <a:gridCol w="2496312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 &amp; Hyperparameters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Tensor Shape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 / Role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Input Clip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 RGB Frames @ 112x112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3, 16, 112, 112)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Spatiotemporal video sample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Conv3D Layer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64 filters, kernel (3,3,3), padding=1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64, 16, 112, 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Low-level spatial/motion edge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MaxPool3D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kernel=(1,2,2), stride=(1,2,2)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64, 16, 56, 56)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Spatial downsampling, keeps 16 frames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Conv3D Layer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128 filters, kernel (3,3,3), padding=1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128, 16, 56, 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High-level spatiotemporal representation (Grad-CAM target)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MaxPool3D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kernel=(2,2,2), stride=(2,2,2)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128, 8, 28, 28)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Temporal &amp; spatial pooling (downsamples to 8 frames)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 FC1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Flatten(128 x 8 x 28 x 28 = 802,816) -&gt; 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Dense feature abstraction with 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 FC2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Linear(256, num_classes)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(Batch, num_classes)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Class logit output for Softmax cross-entropy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57784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Architectural Design Note: MaxPool1 selectively shrinks spatial dimensions while keeping temporal frame depth intact; MaxPool2 downsamples both time and space to control fully-connected parameter volume for fast CPU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Video Preprocessing &amp; Data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AIML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10712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1. Temporal Frame Extraction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OpenCV VideoCapture reads clips frame-by-frame.</a:t>
            </a:r>
            <a:br/>
            <a:r>
              <a:t>Uniform step spacing computed using np.linspace(0, total_frames-1, 16) to ensure consistent temporal duration regardless of source video FPS.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10712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Calibri"/>
              </a:defRPr>
            </a:pPr>
            <a:r>
              <a:t>2. Geometric Standardization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Every extracted frame is resized to standard 112x112 spatial resolution.</a:t>
            </a:r>
            <a:br/>
            <a:r>
              <a:t>BGR channels converted to RGB color space for PyTorch tensor compatibility.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10712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33EA"/>
                </a:solidFill>
                <a:latin typeface="Calibri"/>
              </a:defRPr>
            </a:pPr>
            <a:r>
              <a:t>3. Normalization &amp; Tensor Batching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Pixel intensity values scaled from uint8 [0, 255] to float32 [0.0, 1.0].</a:t>
            </a:r>
            <a:br/>
            <a:r>
              <a:t>Tensors reshaped to (Channels, Time, Height, Width) for 3D convolution processing.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563EB"/>
                </a:solidFill>
                <a:latin typeface="Calibri"/>
              </a:defRPr>
            </a:pPr>
            <a:r>
              <a:t>Dataset Organization Standard: dataset/&lt;activity_class&gt;/&lt;video_sample&gt;.mp4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Compatible with UCF101 benchmark splits and custom webcam video recordings across target categories: Walking, Running, Jumping, and Sitting/Idle.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Explainable AI (XAI) using 3D Grad-CAM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AIML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5836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Calibri"/>
              </a:defRPr>
            </a:pPr>
            <a:r>
              <a:t>How 3D Grad-CAM Visualizes Model Attention: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1. Target Layer Hook: Hooks into conv2, the final 3D convolutional layer capturing rich spatiotemporal features before classification.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2. Gradient Computation: Computes gradient of predicted class logit score (y^c) with respect to 3D feature activation maps (A^k).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3. Global Importance Weighting: Applies Global Average Pooling across spatial and temporal dimensions to determine channel importance alpha_k^c.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4. ReLU Activation: Combines weighted feature maps through a ReLU activation to isolate only features positively supporting the predicted action.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5. Heatmap Superimposition: Normalizes activation map to [0, 1] and overlays it onto the original RGB frames using OpenCV COLORMAP_JET.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554480"/>
            <a:ext cx="3867912" cy="448056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737360"/>
            <a:ext cx="3502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33EA"/>
                </a:solidFill>
                <a:latin typeface="Calibri"/>
              </a:defRPr>
            </a:pPr>
            <a:r>
              <a:t>🎯 Why XAI is Essential for Defense &amp; Viva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Defeats the 'Black Box' problem in Deep Learning.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Proves model attends to moving human legs/arms rather than static background textures (like walls or shadows).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Assures accountability for security, healthcare, and surveillance deployment.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Provides judges with visual interpretability alongside numerical classification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Training Strategy &amp; Hyperparameter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AIML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LOSS FUNCTION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Cross-Entropy Loss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Standard categorical cross-entropy for multi-class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OPTIMIZER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Adam (lr = 0.001)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Adaptive gradient estimation ensuring stable and fast convergence.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51460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BATCH SIZE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4 to 8 clips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Configured to fit into standard CPU memory without RAM overflow.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14600" cy="2286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78308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TEMPORAL WINDOW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Calibri"/>
              </a:defRPr>
            </a:pPr>
            <a:r>
              <a:t>16 Frames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Optimal trade-off between temporal motion context and frame processing latency.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1072591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CPU Optimization Strategies for ThinkPad i7 / Localhost Execution: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Modular Category Subsetting: Trained on core distinct activity categories to enable rapid experimentation on CPU.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Model Checkpointing: Checkpoints save weights based on lowest validation loss (outputs/model_final.pth).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DirectShow Video Acceleration: OpenCV CAP_DSHOW enabled on Windows for zero-latency camera frame grab.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Multithreaded Inference Decoupling: Frame rendering runs at 30 FPS while 3D CNN computes asynchronously.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Performance Evaluation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AIML Project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107259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4114800"/>
                <a:gridCol w="2313432"/>
              </a:tblGrid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 &amp; Significance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Threshold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(TP + TN) / Total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Measures overall proportion of correctly predicted video clips.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TP / (TP + FP)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Quantifies exactness; minimizes false action alarms (e.g., false running).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Recall (Sensitivity)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TP / (TP + FN)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Measures ability to detect all actual action occurrences.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89%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 * (P * R) / (P + 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Harmonic balance between Precision and Recall under imbalanced clip counts.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&gt; 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120640"/>
            <a:ext cx="10725912" cy="1005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Calibri"/>
              </a:defRPr>
            </a:pPr>
            <a:r>
              <a:t>Validation &amp; Reporting Methodology: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Evaluated via scikit-learn classification_report alongside confusion matrix heatmaps to inspect inter-class confusion patterns (e.g. Walking vs. Running boundary detection).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Real-Time Live Camera Predictor &amp; Dashboard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AIML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10712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1. Live Video Stream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Native 30 FPS camera capture via OpenCV.</a:t>
            </a:r>
            <a:br/>
            <a:r>
              <a:t>Real-time 16-frame sliding spatiotemporal buffer.</a:t>
            </a:r>
            <a:br/>
            <a:r>
              <a:t>Mirrored selfie preview with on-screen Heads-Up Display (HUD).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10712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  <a:latin typeface="Calibri"/>
              </a:defRPr>
            </a:pPr>
            <a:r>
              <a:t>2. Motion Energy Analyzer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Solves idle sitting posture calibration.</a:t>
            </a:r>
            <a:br/>
            <a:r>
              <a:t>Evaluates frame-differencing pixel velocity.</a:t>
            </a:r>
            <a:br/>
            <a:r>
              <a:t>Prevents subtle camera sensor noise from triggering false 'running'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10712" cy="3474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449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t>3. 3D Grad-CAM Attention Heatmap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Superimposes jet colormap heatmaps in real-time.</a:t>
            </a:r>
            <a:br/>
            <a:r>
              <a:t>Confirms attention on moving limbs.</a:t>
            </a:r>
            <a:br/>
            <a:r>
              <a:t>Side-by-side or single overlay display modes toggleable with key shortcuts.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5912" cy="868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563EB"/>
                </a:solidFill>
                <a:latin typeface="Calibri"/>
              </a:defRPr>
            </a:pPr>
            <a:r>
              <a:t>Two Deployment Interfaces Ready: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1. Streamlit Web Dashboard at http://localhost:8501  |  2. High-Speed Native Desktop Window (python live_predictor.py)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DEPARTMENT OF ARTIFICIAL INTELLIGENCE &amp; MACHINE LEARNING (AI &amp; 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Conclusion &amp; Future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Video Activity Recognition with 3D CNN &amp; Grad-CAM  |  AIML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38404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  <a:latin typeface="Calibri"/>
              </a:defRPr>
            </a:pPr>
            <a:r>
              <a:t>🏆 Key Project Accomplishments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End-to-End 3D-CNN Pipeline: Successfully implemented Conv3D architecture for spatiotemporal human action recognition.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Integrated Explainable AI: Leveraged 3D Grad-CAM to confirm model focus on active human limbs rather than background textures.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Real-Time Live Predictor: Asynchronous multithreaded engine delivering 30 FPS webcam predictions with on-screen HUD.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Motion-Aware Idle Calibration: Eliminated false-positive predictions when sitting still at a desk.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✔  Open-Source GitHub Repository: Clean codebase, docs, and reproducible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38404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Calibri"/>
              </a:defRPr>
            </a:pPr>
            <a:r>
              <a:t>🚀 Future Research Scope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➔  Video Transformers: Upgrade backbone to Video Swin Transformer (TimeSformer) for global attention modeling.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➔  SlowFast Networks: Integrate two-pathway networks capturing fine spatial details (Slow) and rapid motions (Fast).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➔  Edge Hardware Deployment: Quantize model (TensorRT / ONNX) for NVIDIA Jetson and Raspberry Pi edge devices.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➔  Multi-Modal Sensor Fusion: Combine synchronized audio streams with video features for enhanced activity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5912" cy="685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Thank You!  |  Questions &amp; Discussion  |  Department of AI &amp;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